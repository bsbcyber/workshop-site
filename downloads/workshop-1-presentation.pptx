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mode: this deck is the spine. Yellow ask-the-room bars are cold-call or turn-and-talk prompts — pause and wait for answers. Leave each slide up until the checkpoint is true for most of the room. Press R only for ZIPs, the student guide, or presenter desk. Promise: local preview → one change → commit → branch/PR → live Pages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definition of done before students start. The target is one focused change that the student can explain, review, and publish. If someone gets stuck, use the troubleshooting slide and keep going from a working checkpoint. If students get stuck, they can use the checkpoint on the relevant slide rather than jumping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until every student has an unzipped ZIP and (ideally) an empty public GitHub repo with no README. One starter for everyone — no theme pick. Cold-call: what folder must contain package.json after unzip? Do not start git init until local preview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VS Code experience: point at Activity Bar (Explorer), File→Open Folder, Terminal→New Terminal, trust authors dialog. Leave up until localhost loads. Cold-call: what folder must contain package.json? If npm fails, read the first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Explorer diagram up and walk the room: expand src → data → profile.js. Cold-call three students to name what lives in that file. Photo goes in public/. Leave unused lists as []. After they find the file, flash Source Control later when committing — this slide is about finding content, not the diff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this as the spine for the rest of the session. Cold-call: if you saved in VS Code, is the live site updated? Wait for no. Then walk Save → Commit → Push → Deploy. Revisit this slide whenever someone is stuck on 'I pushed but the site didn't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should already have an empty public repo from the theme slide (or create it now). Live-demo git init → first commit → push. Cover browser auth / PAT when push fails. Cold-call: why Public? ZIP path only — no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after first push / git init. Have every student run git status. Cold-call: what four things can status tell you? Safe reads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feature commits after the first push. Live-demo in Source Control once. Do not stage everything blindly. If someone still sees 'not a git repository', send them back to the first-push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Status Bar branch picker → Create new branch. Then Source Control stage/commit/Publish Branch. Cold-call: what goes wrong if you commit feature work on main? Terminal is optional backup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difference between unstaged edits, staged changes, and committed work. The first two recovery commands shown here are scoped to one file and are useful for common mistakes. git restore FILE discards local edits to that file, so first make sure the edits are not needed. Avoid git reset --hard and force pushes in the workshop; ask for help rather than risking lost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New issue screenshot. Students invent one featured-project issue with checkable criteria. Cold-call: could a stranger verify each criterion without reading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Pass 1 on the screen; wait until students open the named files. Then Pass 2 with their real project. Cold-call: what would you refuse to paste into Copilot? Stress review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before PR. Have students shout out when build succeeds. Cold-call one student to explain their diff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browser. Confirm base/compare. Have partners review Files changed. Cold-call: what would make you reject this PR? Merge only when criteria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Source = GitHub Actions, then Visit site. Stress merge to main. First run often fails until Source is set — teach Re-run all jobs. Cold-call: does a feature branch publish? Wait for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help desk slide during lab. Point at the Actions log screenshot. Protocol: status → reproduce → first error → one fix. Cold-call a stuck student to narrate their symptom without fixing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for ~30 min. Circulate: ask each student to show issue, branch name, and git status before debugging for them. Prefer a finished small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as a gallery walk or pair share. Each student shows issue → diff → PR → URL (or Actions). Instructor check: explain one Copilot line and one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Park this slide during leftover lab time. Exit ticket aloud. Resources (R) for ZIPs and student guide. Remind: status first, verify live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01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WICHITA STATE UNIVERSITY</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Git and GitHub: from your computer to a published site.</a:t>
            </a:r>
            <a:endParaRPr lang="en-US" sz="2800" dirty="0"/>
          </a:p>
        </p:txBody>
      </p:sp>
      <p:sp>
        <p:nvSpPr>
          <p:cNvPr id="8" name="Text 6"/>
          <p:cNvSpPr/>
          <p:nvPr/>
        </p:nvSpPr>
        <p:spPr>
          <a:xfrm>
            <a:off x="502920" y="1783080"/>
            <a:ext cx="11155680" cy="1225296"/>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Make one small change: One clear outcome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Commit and push: Keep the history readable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Review and publish: Prove it works</a:t>
            </a:r>
            <a:endParaRPr lang="en-US" sz="1500" dirty="0"/>
          </a:p>
        </p:txBody>
      </p:sp>
      <p:sp>
        <p:nvSpPr>
          <p:cNvPr id="9" name="Shape 7"/>
          <p:cNvSpPr/>
          <p:nvPr/>
        </p:nvSpPr>
        <p:spPr>
          <a:xfrm>
            <a:off x="0" y="6446520"/>
            <a:ext cx="12191695" cy="411480"/>
          </a:xfrm>
          <a:prstGeom prst="rect">
            <a:avLst/>
          </a:prstGeom>
          <a:solidFill>
            <a:srgbClr val="000000"/>
          </a:solidFill>
          <a:ln w="12700">
            <a:solidFill>
              <a:srgbClr val="000000"/>
            </a:solidFill>
            <a:prstDash val="solid"/>
          </a:ln>
        </p:spPr>
      </p:sp>
      <p:sp>
        <p:nvSpPr>
          <p:cNvPr id="10" name="Text 8"/>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USE THE WALKTHROUGH WHILE YOU WORK · ARROWS TO MOVE · R FOR RESOURCES · N FOR NOTES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02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TODAY’S GOAL</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Today’s goal: make and publish one change.</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You don’t need to finish the whole portfolio today. Make one useful change, review it, and follow the steps through publishing.</a:t>
            </a:r>
            <a:endParaRPr lang="en-US" sz="1500" dirty="0"/>
          </a:p>
        </p:txBody>
      </p:sp>
      <p:sp>
        <p:nvSpPr>
          <p:cNvPr id="9" name="Text 7"/>
          <p:cNvSpPr/>
          <p:nvPr/>
        </p:nvSpPr>
        <p:spPr>
          <a:xfrm>
            <a:off x="502920" y="2377440"/>
            <a:ext cx="11155680" cy="3291840"/>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Run locally: The project opens in VS Code and the local preview loads.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Change one thing: Update one project, profile detail, or content section.</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Record the work: Check the diff, stage only intended files, and make a clear commit.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Review + publish: Open a pull request, merge after review, then check the live URL.</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15 min: Starter + empty repo</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15 min: Open + local preview</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15 min: First push (git init)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20 min: Personalize in profile.js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10 min: Break</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30 min: Issue → VS Code branch → PR</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A CHANGE YOU CAN EXPLAIN AND SHOW · FOLLOW THE STEPS IN ORDER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03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ONE LAYOUT FOR EVERYONE</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Download the starter ZIP. Unzip it.</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Same resume site for the whole room. Empty sections stay hidden — fill what you have in profile.js .</a:t>
            </a:r>
            <a:endParaRPr lang="en-US" sz="1500" dirty="0"/>
          </a:p>
        </p:txBody>
      </p:sp>
      <p:sp>
        <p:nvSpPr>
          <p:cNvPr id="9" name="Text 7"/>
          <p:cNvSpPr/>
          <p:nvPr/>
        </p:nvSpPr>
        <p:spPr>
          <a:xfrm>
            <a:off x="502920" y="2377440"/>
            <a:ext cx="11155680" cy="87782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Resume starter: Edit profile.js · publish with Pages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the room: Raise your hand when your ZIP is downloaded and unzipped. What folder did you get?</a:t>
            </a:r>
            <a:endParaRPr lang="en-US" sz="1500" dirty="0"/>
          </a:p>
        </p:txBody>
      </p:sp>
      <p:sp>
        <p:nvSpPr>
          <p:cNvPr id="10" name="Shape 8"/>
          <p:cNvSpPr/>
          <p:nvPr/>
        </p:nvSpPr>
        <p:spPr>
          <a:xfrm>
            <a:off x="502920" y="3392424"/>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3502152"/>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Raise your hand when your ZIP is downloaded and unzipped. What folder did you get?</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ONE ZIP PER STUDENT · ALSO CREATE EMPTY PUBLIC REPO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04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GET A KNOWN-GOOD START</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Open the project. Run it before editing.</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Start in the project root — the folder with package.json . Name every VS Code click for beginners.</a:t>
            </a:r>
            <a:endParaRPr lang="en-US" sz="1500" dirty="0"/>
          </a:p>
        </p:txBody>
      </p:sp>
      <p:sp>
        <p:nvSpPr>
          <p:cNvPr id="9" name="Text 7"/>
          <p:cNvSpPr/>
          <p:nvPr/>
        </p:nvSpPr>
        <p:spPr>
          <a:xfrm>
            <a:off x="502920" y="2377440"/>
            <a:ext cx="11155680" cy="261518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File → Open Folder… and select unzipped my-resume-site (trust authors if asked).</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Activity Bar → top icon = Explorer . Confirm package.json and src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Terminal → New Terminal . Click in the bottom panel to type.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Run install, then dev. Click the localhost link while holding Cmd/Ctrl.</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Checkpoint: Open the local URL shown in the terminal, usually http://localhost:4321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the room: Did you open the folder that contains package.json , or only one file? Hands up when the local preview loads.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npm install npm run dev</a:t>
            </a:r>
            <a:endParaRPr lang="en-US" sz="1500" dirty="0"/>
          </a:p>
        </p:txBody>
      </p:sp>
      <p:sp>
        <p:nvSpPr>
          <p:cNvPr id="10" name="Shape 8"/>
          <p:cNvSpPr/>
          <p:nvPr/>
        </p:nvSpPr>
        <p:spPr>
          <a:xfrm>
            <a:off x="502920" y="5074920"/>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5184648"/>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Did you open the folder that contains package.json , or only one file? Hands up when the local preview loads.</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RUN THE STARTER BEFORE EDITING · LOCAL PREVIEW FIRST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05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READ THE PROJECT BEFORE CHANGING IT</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Open Explorer → src → data → profile.js.</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Almost all resume content lives in that one file. Photos go in public/ .</a:t>
            </a:r>
            <a:endParaRPr lang="en-US" sz="1500" dirty="0"/>
          </a:p>
        </p:txBody>
      </p:sp>
      <p:sp>
        <p:nvSpPr>
          <p:cNvPr id="9" name="Text 7"/>
          <p:cNvSpPr/>
          <p:nvPr/>
        </p:nvSpPr>
        <p:spPr>
          <a:xfrm>
            <a:off x="502920" y="2377440"/>
            <a:ext cx="11155680" cy="3291840"/>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portfolio-…</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public</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photo.svg</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src</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data</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profile.js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layouts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pages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package.json</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EXPLORER: SRC → DATA → PROFILE.JS · ASK COPILOT TO EXPLAIN BEFORE EDITING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06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HOW A CHANGE GETS PUBLISHED</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What happens between editing and publishing?</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The most common confusion is assuming a save, a commit, a push, and a deployment are the same thing.</a:t>
            </a:r>
            <a:endParaRPr lang="en-US" sz="1500" dirty="0"/>
          </a:p>
        </p:txBody>
      </p:sp>
      <p:sp>
        <p:nvSpPr>
          <p:cNvPr id="9" name="Text 7"/>
          <p:cNvSpPr/>
          <p:nvPr/>
        </p:nvSpPr>
        <p:spPr>
          <a:xfrm>
            <a:off x="502920" y="2377440"/>
            <a:ext cx="11155680" cy="3291840"/>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VS Code: Edit files on your computer.</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Stage and record a local snapshot.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GitHub: Share commits and review the change.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Actions: Install, build, and deploy.</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Pages: Serve the published site.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Saved: The file on your computer changed.</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Committed: Git recorded a snapshot in local history.</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Pushed: Your commit was sent to GitHub.</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Deployed: The automated publish finished; verify the URL.</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the room: Raise your hand if you think saving a file in VS Code updates the live website. (It does not — wait for hands, then correct.)</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SAVE ≠ COMMIT ≠ PUSH ≠ DEPLOY · CHECK EACH STAGE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07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AFTER THE LOCAL PREVIEW WORKS</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Initialize Git, then push to your empty public repo.</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Use the empty Public repository you created (no README). This is the first time git init runs — do it before any other Git commands.</a:t>
            </a:r>
            <a:endParaRPr lang="en-US" sz="1500" dirty="0"/>
          </a:p>
        </p:txBody>
      </p:sp>
      <p:sp>
        <p:nvSpPr>
          <p:cNvPr id="9" name="Text 7"/>
          <p:cNvSpPr/>
          <p:nvPr/>
        </p:nvSpPr>
        <p:spPr>
          <a:xfrm>
            <a:off x="502920" y="2377440"/>
            <a:ext cx="11155680" cy="1920240"/>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Initialize and first commit: git init git branch -M main git add . git diff --staged git commit -m "Create my portfolio" C</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Add remote and push: git remote add origin https://github.com/YOUR-USERNAME/YOUR-REPOSITORY.git git remote -v git push -u origin main If push asks for a password GitHub rejects account passwords for HTTPS. Use browser sign-in when prompted, or a classic Personal Access Token with repo scope (paste it as the password). Do not force-push. Walkthrough: student guide Step 3.</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the room: Why must the repository be Public for free GitHub Pages on a student account?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init git branch -M main git add . git diff --staged git commit -m "Create my portfolio"</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remote add origin https://github.com/YOUR-USERNAME/YOUR-REPOSITORY.git git remote -v git push -u origin main</a:t>
            </a:r>
            <a:endParaRPr lang="en-US" sz="1500" dirty="0"/>
          </a:p>
        </p:txBody>
      </p:sp>
      <p:sp>
        <p:nvSpPr>
          <p:cNvPr id="10" name="Shape 8"/>
          <p:cNvSpPr/>
          <p:nvPr/>
        </p:nvSpPr>
        <p:spPr>
          <a:xfrm>
            <a:off x="502920" y="4434840"/>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4544568"/>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Why must the repository be Public for free GitHub Pages on a student account?</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GIT INIT STARTS HISTORY · THEN PUSH TO ORIGIN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08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COMMANDS TO KEEP HANDY</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Check the current state first.</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Use these after git init from the previous slide. Start with git status when you're unsure.</a:t>
            </a:r>
            <a:endParaRPr lang="en-US" sz="1500" dirty="0"/>
          </a:p>
        </p:txBody>
      </p:sp>
      <p:sp>
        <p:nvSpPr>
          <p:cNvPr id="9" name="Text 7"/>
          <p:cNvSpPr/>
          <p:nvPr/>
        </p:nvSpPr>
        <p:spPr>
          <a:xfrm>
            <a:off x="502920" y="2377440"/>
            <a:ext cx="11155680" cy="2267712"/>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What is changed?: Shows the branch, staged files, unstaged edits, and untracked files.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What did I edit?: Shows changes that are not staged yet.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What will I commit?: Shows the staged snapshot that the next commit will record.</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What happened recently?: Shows the five latest commits in a compact list.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Where am I working?: Prints the current branch name.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Where does push go?: Shows the remote repository URL, normally named origin .</a:t>
            </a:r>
            <a:endParaRPr lang="en-US" sz="1500" dirty="0"/>
          </a:p>
        </p:txBody>
      </p:sp>
      <p:sp>
        <p:nvSpPr>
          <p:cNvPr id="10" name="Shape 8"/>
          <p:cNvSpPr/>
          <p:nvPr/>
        </p:nvSpPr>
        <p:spPr>
          <a:xfrm>
            <a:off x="502920" y="4782312"/>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4892040"/>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Turn and talk (30 sec): which command do you run first when something looks wrong?</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INSPECT FIRST · MAKE ONE CHANGE AT A TIME · THESE COMMANDS ONLY SHOW THE CURRENT STATE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09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MAKING A COMMIT</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Review the diff before you commit.</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Primary path: Source Control in VS Code. Keep each commit to one change.</a:t>
            </a:r>
            <a:endParaRPr lang="en-US" sz="1500" dirty="0"/>
          </a:p>
        </p:txBody>
      </p:sp>
      <p:sp>
        <p:nvSpPr>
          <p:cNvPr id="9" name="Text 7"/>
          <p:cNvSpPr/>
          <p:nvPr/>
        </p:nvSpPr>
        <p:spPr>
          <a:xfrm>
            <a:off x="502920" y="2377440"/>
            <a:ext cx="11155680" cy="261518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Vague commit: updates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After committing: Source Control should show no pending changes for this task.</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the room: Which message would you accept in a PR review: updates or Add featured project ? Why?</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Source Control click the changed file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Click + next to src/data/profile.js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Staged Changes read green/red diff</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Message → Commit then Publish / Sync</a:t>
            </a:r>
            <a:endParaRPr lang="en-US" sz="1500" dirty="0"/>
          </a:p>
        </p:txBody>
      </p:sp>
      <p:sp>
        <p:nvSpPr>
          <p:cNvPr id="10" name="Shape 8"/>
          <p:cNvSpPr/>
          <p:nvPr/>
        </p:nvSpPr>
        <p:spPr>
          <a:xfrm>
            <a:off x="502920" y="5074920"/>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5184648"/>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Which message would you accept in a PR review: updates or Add featured project ? Why?</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STAGE ONLY THE FILES YOU MEAN TO COMMIT · COMMIT WHAT YOU INTEND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10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USE A BRANCH FOR EACH TASK</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Create the branch in VS Code, then commit and publish.</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Primary path: Status Bar + Source Control. Terminal is optional.</a:t>
            </a:r>
            <a:endParaRPr lang="en-US" sz="1500" dirty="0"/>
          </a:p>
        </p:txBody>
      </p:sp>
      <p:sp>
        <p:nvSpPr>
          <p:cNvPr id="9" name="Text 7"/>
          <p:cNvSpPr/>
          <p:nvPr/>
        </p:nvSpPr>
        <p:spPr>
          <a:xfrm>
            <a:off x="502920" y="2377440"/>
            <a:ext cx="11155680" cy="2267712"/>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Why not commit feature work directly on main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Status Bar → main → Create new branch… → add-featured-project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Edit src/data/profile.js Save · refresh localhost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Source Control → open diff → Stage (+) → message → Commit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Publish Branch (or Sync Changes)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GitHub → Compare &amp; pull request base: main · compare: branch</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DON'T DO FEATURE WORK DIRECTLY ON MAIN · BRANCH → COMMIT → PUBLISH → PR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11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HOW TO UNDO A CHANGE</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Check what changed before you undo anything.</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Use the least destructive action that matches the state of your file.</a:t>
            </a:r>
            <a:endParaRPr lang="en-US" sz="1500" dirty="0"/>
          </a:p>
        </p:txBody>
      </p:sp>
      <p:sp>
        <p:nvSpPr>
          <p:cNvPr id="9" name="Text 7"/>
          <p:cNvSpPr/>
          <p:nvPr/>
        </p:nvSpPr>
        <p:spPr>
          <a:xfrm>
            <a:off x="502920" y="2377440"/>
            <a:ext cx="11155680" cy="87782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Recover safely — common undo commands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See the live web deck for full layout and screenshots.</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IF YOU’RE UNSURE, STOP AND CHECK STATUS · STATUS FIRST · ASK IF UNSURE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12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CREATE AN ISSUE FIRST</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Describe the change and how you’ll check it.</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Create an issue in GitHub: Issues → New issue . Use a clear title and acceptance criteria.</a:t>
            </a:r>
            <a:endParaRPr lang="en-US" sz="1500" dirty="0"/>
          </a:p>
        </p:txBody>
      </p:sp>
      <p:sp>
        <p:nvSpPr>
          <p:cNvPr id="9" name="Text 7"/>
          <p:cNvSpPr/>
          <p:nvPr/>
        </p:nvSpPr>
        <p:spPr>
          <a:xfrm>
            <a:off x="502920" y="2377440"/>
            <a:ext cx="11155680" cy="261518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Open your repository.</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Select Issues → New issue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Choose a template or open a blank issue.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Use the title and acceptance criteria below.</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Create the issue before changing code.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Checkpoint: Could someone who didn't write the code verify each criterion? If not, make it more specific.</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Read a neighbor's criteria. Could you verify their done state?</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CREATE AN ISSUE BEFORE CODING · REVIEW THE RESULT AGAINST THE CRITERIA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13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WHAT TO INCLUDE IN A COPILOT REQUEST</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Ask Copilot to make one specific change.</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Use Copilot Chat in VS Code. Don't ask it to “make the whole site better.”</a:t>
            </a:r>
            <a:endParaRPr lang="en-US" sz="1500" dirty="0"/>
          </a:p>
        </p:txBody>
      </p:sp>
      <p:sp>
        <p:nvSpPr>
          <p:cNvPr id="9" name="Text 7"/>
          <p:cNvSpPr/>
          <p:nvPr/>
        </p:nvSpPr>
        <p:spPr>
          <a:xfrm>
            <a:off x="502920" y="2377440"/>
            <a:ext cx="11155680" cy="1225296"/>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Check the result: Generated code, claims, links, and accessibility can all be wrong.</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Know what changed: You should be able to explain and maintain the code you submit.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the room: What is one thing you would refuse to paste into Copilot Chat?</a:t>
            </a:r>
            <a:endParaRPr lang="en-US" sz="1500" dirty="0"/>
          </a:p>
        </p:txBody>
      </p:sp>
      <p:sp>
        <p:nvSpPr>
          <p:cNvPr id="10" name="Shape 8"/>
          <p:cNvSpPr/>
          <p:nvPr/>
        </p:nvSpPr>
        <p:spPr>
          <a:xfrm>
            <a:off x="502920" y="3739896"/>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3849624"/>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What is one thing you would refuse to paste into Copilot Chat?</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COPILOT SUGGESTS CHANGES. YOU REVIEW THEM. · DESCRIBE ONE TASK PER REQUEST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14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CHECK THE RESULT BEFORE OPENING A PULL REQUEST</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Read the diff and test your change before asking for review.</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Use the same checks every time, even when the code was written with AI assistance.</a:t>
            </a:r>
            <a:endParaRPr lang="en-US" sz="1500" dirty="0"/>
          </a:p>
        </p:txBody>
      </p:sp>
      <p:sp>
        <p:nvSpPr>
          <p:cNvPr id="9" name="Text 7"/>
          <p:cNvSpPr/>
          <p:nvPr/>
        </p:nvSpPr>
        <p:spPr>
          <a:xfrm>
            <a:off x="502920" y="2377440"/>
            <a:ext cx="11155680" cy="1225296"/>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Expected result: Build completes without an error. Diff contains only the intended change.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Ask: Can you explain your diff in one sentence before opening a PR?</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status git diff --check git diff npm run build</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TEST LOCALLY BEFORE PUSHING · FIX THE SMALLEST CAUSE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15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REVIEW THE CHANGE ON GITHUB</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Check the diff and acceptance criteria before merging.</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After Publish Branch in VS Code, open GitHub in your browser.</a:t>
            </a:r>
            <a:endParaRPr lang="en-US" sz="1500" dirty="0"/>
          </a:p>
        </p:txBody>
      </p:sp>
      <p:sp>
        <p:nvSpPr>
          <p:cNvPr id="9" name="Text 7"/>
          <p:cNvSpPr/>
          <p:nvPr/>
        </p:nvSpPr>
        <p:spPr>
          <a:xfrm>
            <a:off x="502920" y="2377440"/>
            <a:ext cx="11155680" cy="87782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Open and review a pull request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See the live web deck for full layout and screenshots.</a:t>
            </a:r>
            <a:endParaRPr lang="en-US" sz="1500" dirty="0"/>
          </a:p>
        </p:txBody>
      </p:sp>
      <p:sp>
        <p:nvSpPr>
          <p:cNvPr id="10" name="Shape 8"/>
          <p:cNvSpPr/>
          <p:nvPr/>
        </p:nvSpPr>
        <p:spPr>
          <a:xfrm>
            <a:off x="502920" y="3392424"/>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3502152"/>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What is one reason you would not merge a classmate’s pull request yet?</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BRANCH → PULL REQUEST → REVIEW → MERGE · CHECK THE FILES CHANGED TAB</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16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PUBLISH THE BUILT SITE</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Merge to main → Actions → open the live URL.</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Set Pages source to GitHub Actions . A green workflow is not enough — open the real URL.</a:t>
            </a:r>
            <a:endParaRPr lang="en-US" sz="1500" dirty="0"/>
          </a:p>
        </p:txBody>
      </p:sp>
      <p:sp>
        <p:nvSpPr>
          <p:cNvPr id="9" name="Text 7"/>
          <p:cNvSpPr/>
          <p:nvPr/>
        </p:nvSpPr>
        <p:spPr>
          <a:xfrm>
            <a:off x="502920" y="2377440"/>
            <a:ext cx="11155680" cy="2615184"/>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Open Actions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Open the latest run.</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Confirm success or read the first failed step.</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Open the deployed URL and test it.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Actions runs: npm install npm run build Uploads dist/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Pages deploys: Static output goes live.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Verify URL: Test content, links, assets.</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MAIN → ACTIONS → PAGES · TEST THE REAL URL</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17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FIND THE STEP THAT FAILED</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Find the failing step before changing anything.</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Start with the symptom, inspect evidence, and change one thing at a time.</a:t>
            </a:r>
            <a:endParaRPr lang="en-US" sz="1500" dirty="0"/>
          </a:p>
        </p:txBody>
      </p:sp>
      <p:sp>
        <p:nvSpPr>
          <p:cNvPr id="9" name="Text 7"/>
          <p:cNvSpPr/>
          <p:nvPr/>
        </p:nvSpPr>
        <p:spPr>
          <a:xfrm>
            <a:off x="502920" y="2377440"/>
            <a:ext cx="11155680" cy="2962656"/>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“not a git repository”: Run pwd / inspect the folder. Move to the project root that contains package.json ; use git init only for a downloaded ZIP without Git.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Push asks for password / auth failed: Use browser sign-in, or a classic PAT with repo scope as the password — not the GitHub account password. See student guide Step 3.</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Push rejected: Run git status and git remote -v . Stop and inspect why the remote differs; don't force push or blindly overwrite history.</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Build failed in Actions: Open the failed job log and find the first useful error. Reproduce locally with npm run build ; fix the referenced file and push again.</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First Actions run failed: Confirm Settings → Pages → Source = GitHub Actions , then open the failed run and choose Re-run all jobs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Site URL returns 404: Check Settings → Pages, confirm the latest workflow succeeded, and use the full project URL including the repository path.</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HTML loads, styles/assets don't: Check the asset URL in browser dev tools and the Astro base path. A leading slash can point at the domain root rather than the project subpath.</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Latest change isn't visible: Confirm the PR was merged to main , the newest Actions run succeeded, the URL is correct, then hard refresh.</a:t>
            </a:r>
            <a:endParaRPr lang="en-US" sz="1500" dirty="0"/>
          </a:p>
        </p:txBody>
      </p:sp>
      <p:sp>
        <p:nvSpPr>
          <p:cNvPr id="10" name="Shape 8"/>
          <p:cNvSpPr/>
          <p:nvPr/>
        </p:nvSpPr>
        <p:spPr>
          <a:xfrm>
            <a:off x="502920" y="5074920"/>
            <a:ext cx="11155680" cy="640080"/>
          </a:xfrm>
          <a:prstGeom prst="roundRect">
            <a:avLst>
              <a:gd name="adj" fmla="val 8571"/>
            </a:avLst>
          </a:prstGeom>
          <a:solidFill>
            <a:srgbClr val="FFF8CC"/>
          </a:solidFill>
          <a:ln w="12700">
            <a:solidFill>
              <a:srgbClr val="FFDB00"/>
            </a:solidFill>
            <a:prstDash val="solid"/>
          </a:ln>
        </p:spPr>
      </p:sp>
      <p:sp>
        <p:nvSpPr>
          <p:cNvPr id="11" name="Text 9"/>
          <p:cNvSpPr/>
          <p:nvPr/>
        </p:nvSpPr>
        <p:spPr>
          <a:xfrm>
            <a:off x="640080" y="5184648"/>
            <a:ext cx="10881360" cy="438912"/>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Ask the room: Before changing anything: what is the exact error text or screenshot you would show a helper?</a:t>
            </a:r>
            <a:endParaRPr lang="en-US" sz="1300" dirty="0"/>
          </a:p>
        </p:txBody>
      </p:sp>
      <p:sp>
        <p:nvSpPr>
          <p:cNvPr id="12" name="Shape 10"/>
          <p:cNvSpPr/>
          <p:nvPr/>
        </p:nvSpPr>
        <p:spPr>
          <a:xfrm>
            <a:off x="0" y="6446520"/>
            <a:ext cx="12191695" cy="411480"/>
          </a:xfrm>
          <a:prstGeom prst="rect">
            <a:avLst/>
          </a:prstGeom>
          <a:solidFill>
            <a:srgbClr val="000000"/>
          </a:solidFill>
          <a:ln w="12700">
            <a:solidFill>
              <a:srgbClr val="000000"/>
            </a:solidFill>
            <a:prstDash val="solid"/>
          </a:ln>
        </p:spPr>
      </p:sp>
      <p:sp>
        <p:nvSpPr>
          <p:cNvPr id="13" name="Text 11"/>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READ THE FIRST ERROR BEFORE CHANGING FILES · CHANGE ONE THING, THEN TEST AGAIN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18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PRACTICE · 30 MINUTES</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Implement the featured project issue.</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Keep this slide up while you work. Complete the steps in order; don't skip the review.</a:t>
            </a:r>
            <a:endParaRPr lang="en-US" sz="1500" dirty="0"/>
          </a:p>
        </p:txBody>
      </p:sp>
      <p:sp>
        <p:nvSpPr>
          <p:cNvPr id="9" name="Text 7"/>
          <p:cNvSpPr/>
          <p:nvPr/>
        </p:nvSpPr>
        <p:spPr>
          <a:xfrm>
            <a:off x="502920" y="2377440"/>
            <a:ext cx="11155680" cy="1572768"/>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Create the branch: Status Bar → branch name → Create new branch… → add-featured-project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Edit + inspect: Update profile.js . Refresh localhost. In Source Control, open the diff.</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Commit + publish: Stage (+) → message → Commit → Publish Branch .</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Open the PR: GitHub → Compare &amp; pull request → Files changed → merge when ready.</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WHEN ASKING FOR HELP, SHOW THE ERROR AND GIT STATUS · SHOW YOUR STATUS + DIFF</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19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SHOW YOUR WORK</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Show what you changed and how you tested it.</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You’re done when you can show the issue, the code change, the pull request, and the published page.</a:t>
            </a:r>
            <a:endParaRPr lang="en-US" sz="1500" dirty="0"/>
          </a:p>
        </p:txBody>
      </p:sp>
      <p:sp>
        <p:nvSpPr>
          <p:cNvPr id="9" name="Text 7"/>
          <p:cNvSpPr/>
          <p:nvPr/>
        </p:nvSpPr>
        <p:spPr>
          <a:xfrm>
            <a:off x="502920" y="2377440"/>
            <a:ext cx="11155680" cy="2267712"/>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Task: Which issue did you implement? How does the result meet each criterion?</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Show the issue. 02 Code: Which file changed? Why was it the right file? What does the diff show?</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Show the file + diff. 03 History: What branch and commit hold the change? Why is the message useful?</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Show git log . 04 Review: What did you test? What review feedback or acceptance check matters most?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Show the PR. 05 Deployment: Did Actions succeed? Have you checked the actual published page, not just local preview?</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Show Actions + URL. Instructor check: Ask the student to explain one line changed by Copilot and one check they used to verify it.</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SHOW THE ISSUE, DIFF, PULL REQUEST, AND LIVE URL · REVIEWED AND TESTED</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w="12700">
            <a:solidFill>
              <a:srgbClr val="000000"/>
            </a:solidFill>
            <a:prstDash val="solid"/>
          </a:ln>
        </p:spPr>
      </p:sp>
      <p:sp>
        <p:nvSpPr>
          <p:cNvPr id="3" name="Shape 1"/>
          <p:cNvSpPr/>
          <p:nvPr/>
        </p:nvSpPr>
        <p:spPr>
          <a:xfrm>
            <a:off x="0" y="164592"/>
            <a:ext cx="12191695" cy="73152"/>
          </a:xfrm>
          <a:prstGeom prst="rect">
            <a:avLst/>
          </a:prstGeom>
          <a:solidFill>
            <a:srgbClr val="FFDB00"/>
          </a:solidFill>
          <a:ln w="12700">
            <a:solidFill>
              <a:srgbClr val="FFDB00"/>
            </a:solidFill>
            <a:prstDash val="solid"/>
          </a:ln>
        </p:spPr>
      </p:sp>
      <p:sp>
        <p:nvSpPr>
          <p:cNvPr id="4" name="Text 2"/>
          <p:cNvSpPr/>
          <p:nvPr/>
        </p:nvSpPr>
        <p:spPr>
          <a:xfrm>
            <a:off x="502920" y="365760"/>
            <a:ext cx="9601200" cy="256032"/>
          </a:xfrm>
          <a:prstGeom prst="rect">
            <a:avLst/>
          </a:prstGeom>
          <a:noFill/>
          <a:ln/>
        </p:spPr>
        <p:txBody>
          <a:bodyPr wrap="square" rtlCol="0" anchor="ctr"/>
          <a:lstStyle/>
          <a:p>
            <a:pPr indent="0" marL="0">
              <a:buNone/>
            </a:pPr>
            <a:r>
              <a:rPr lang="en-US" sz="1100" b="1" spc="200" kern="0" dirty="0">
                <a:solidFill>
                  <a:srgbClr val="555555"/>
                </a:solidFill>
                <a:latin typeface="Arial" pitchFamily="34" charset="0"/>
                <a:ea typeface="Arial" pitchFamily="34" charset="-122"/>
                <a:cs typeface="Arial" pitchFamily="34" charset="-120"/>
              </a:rPr>
              <a:t>WICHITA STATE · MIS CLUB · WORKSHOP 1</a:t>
            </a:r>
            <a:endParaRPr lang="en-US" sz="1100" dirty="0"/>
          </a:p>
        </p:txBody>
      </p:sp>
      <p:sp>
        <p:nvSpPr>
          <p:cNvPr id="5" name="Text 3"/>
          <p:cNvSpPr/>
          <p:nvPr/>
        </p:nvSpPr>
        <p:spPr>
          <a:xfrm>
            <a:off x="10241280" y="365760"/>
            <a:ext cx="1463040" cy="256032"/>
          </a:xfrm>
          <a:prstGeom prst="rect">
            <a:avLst/>
          </a:prstGeom>
          <a:noFill/>
          <a:ln/>
        </p:spPr>
        <p:txBody>
          <a:bodyPr wrap="square" rtlCol="0" anchor="ctr"/>
          <a:lstStyle/>
          <a:p>
            <a:pPr algn="r" indent="0" marL="0">
              <a:buNone/>
            </a:pPr>
            <a:r>
              <a:rPr lang="en-US" sz="1100" b="1" dirty="0">
                <a:solidFill>
                  <a:srgbClr val="555555"/>
                </a:solidFill>
                <a:latin typeface="Arial" pitchFamily="34" charset="0"/>
                <a:ea typeface="Arial" pitchFamily="34" charset="-122"/>
                <a:cs typeface="Arial" pitchFamily="34" charset="-120"/>
              </a:rPr>
              <a:t>20 / 20</a:t>
            </a:r>
            <a:endParaRPr lang="en-US" sz="1100" dirty="0"/>
          </a:p>
        </p:txBody>
      </p:sp>
      <p:sp>
        <p:nvSpPr>
          <p:cNvPr id="6" name="Text 4"/>
          <p:cNvSpPr/>
          <p:nvPr/>
        </p:nvSpPr>
        <p:spPr>
          <a:xfrm>
            <a:off x="502920" y="685800"/>
            <a:ext cx="11155680" cy="256032"/>
          </a:xfrm>
          <a:prstGeom prst="rect">
            <a:avLst/>
          </a:prstGeom>
          <a:noFill/>
          <a:ln/>
        </p:spPr>
        <p:txBody>
          <a:bodyPr wrap="square" rtlCol="0" anchor="ctr"/>
          <a:lstStyle/>
          <a:p>
            <a:pPr indent="0" marL="0">
              <a:buNone/>
            </a:pPr>
            <a:r>
              <a:rPr lang="en-US" sz="1200" b="1" dirty="0">
                <a:solidFill>
                  <a:srgbClr val="555555"/>
                </a:solidFill>
                <a:latin typeface="Arial" pitchFamily="34" charset="0"/>
                <a:ea typeface="Arial" pitchFamily="34" charset="-122"/>
                <a:cs typeface="Arial" pitchFamily="34" charset="-120"/>
              </a:rPr>
              <a:t>COMMANDS TO KEEP HANDY</a:t>
            </a:r>
            <a:endParaRPr lang="en-US" sz="1200" dirty="0"/>
          </a:p>
        </p:txBody>
      </p:sp>
      <p:sp>
        <p:nvSpPr>
          <p:cNvPr id="7" name="Text 5"/>
          <p:cNvSpPr/>
          <p:nvPr/>
        </p:nvSpPr>
        <p:spPr>
          <a:xfrm>
            <a:off x="502920" y="960120"/>
            <a:ext cx="11155680" cy="777240"/>
          </a:xfrm>
          <a:prstGeom prst="rect">
            <a:avLst/>
          </a:prstGeom>
          <a:noFill/>
          <a:ln/>
        </p:spPr>
        <p:txBody>
          <a:bodyPr wrap="square" rtlCol="0" anchor="t"/>
          <a:lstStyle/>
          <a:p>
            <a:pPr indent="0" marL="0">
              <a:buNone/>
            </a:pPr>
            <a:r>
              <a:rPr lang="en-US" sz="2800" b="1" dirty="0">
                <a:solidFill>
                  <a:srgbClr val="1A1A1A"/>
                </a:solidFill>
                <a:latin typeface="Arial" pitchFamily="34" charset="0"/>
                <a:ea typeface="Arial" pitchFamily="34" charset="-122"/>
                <a:cs typeface="Arial" pitchFamily="34" charset="-120"/>
              </a:rPr>
              <a:t>Run these commands and read the output.</a:t>
            </a:r>
            <a:endParaRPr lang="en-US" sz="2800" dirty="0"/>
          </a:p>
        </p:txBody>
      </p:sp>
      <p:sp>
        <p:nvSpPr>
          <p:cNvPr id="8" name="Text 6"/>
          <p:cNvSpPr/>
          <p:nvPr/>
        </p:nvSpPr>
        <p:spPr>
          <a:xfrm>
            <a:off x="502920" y="1783080"/>
            <a:ext cx="11155680" cy="502920"/>
          </a:xfrm>
          <a:prstGeom prst="rect">
            <a:avLst/>
          </a:prstGeom>
          <a:noFill/>
          <a:ln/>
        </p:spPr>
        <p:txBody>
          <a:bodyPr wrap="square" rtlCol="0" anchor="ctr"/>
          <a:lstStyle/>
          <a:p>
            <a:pPr indent="0" marL="0">
              <a:buNone/>
            </a:pPr>
            <a:r>
              <a:rPr lang="en-US" sz="1500" dirty="0">
                <a:solidFill>
                  <a:srgbClr val="555555"/>
                </a:solidFill>
                <a:latin typeface="Arial" pitchFamily="34" charset="0"/>
                <a:ea typeface="Arial" pitchFamily="34" charset="-122"/>
                <a:cs typeface="Arial" pitchFamily="34" charset="-120"/>
              </a:rPr>
              <a:t>This is the compact sequence to leave on screen during independent work.</a:t>
            </a:r>
            <a:endParaRPr lang="en-US" sz="1500" dirty="0"/>
          </a:p>
        </p:txBody>
      </p:sp>
      <p:sp>
        <p:nvSpPr>
          <p:cNvPr id="9" name="Text 7"/>
          <p:cNvSpPr/>
          <p:nvPr/>
        </p:nvSpPr>
        <p:spPr>
          <a:xfrm>
            <a:off x="502920" y="2377440"/>
            <a:ext cx="11155680" cy="1920240"/>
          </a:xfrm>
          <a:prstGeom prst="rect">
            <a:avLst/>
          </a:prstGeom>
          <a:noFill/>
          <a:ln/>
        </p:spPr>
        <p:txBody>
          <a:bodyPr wrap="square" rtlCol="0" anchor="t"/>
          <a:lstStyle/>
          <a:p>
            <a:pPr marL="342900" indent="-342900">
              <a:buSzPct val="100000"/>
              <a:buChar char="•"/>
            </a:pPr>
            <a:r>
              <a:rPr lang="en-US" sz="1500" dirty="0">
                <a:solidFill>
                  <a:srgbClr val="1A1A1A"/>
                </a:solidFill>
                <a:latin typeface="Arial" pitchFamily="34" charset="0"/>
                <a:ea typeface="Arial" pitchFamily="34" charset="-122"/>
                <a:cs typeface="Arial" pitchFamily="34" charset="-120"/>
              </a:rPr>
              <a:t>Inspect: git status git diff git diff --staged git log --oneline -5 git branch --show-current Record git add path/to/file git diff --staged git commit -m "Describe the change" git status Branch + share git switch main git pull git switch -c feature/name git push -u origin feature/name Validate + publish npm run dev npm run build # push branch → open PR # merge → check Actions # open and test live URL EXIT TICKET What changed? Where is the diff? What proves it works? What happens after merge?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status git diff git diff --staged git log --oneline -5 git branch --show-current</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add path/to/file git diff --staged git commit -m "Describe the change" git status</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git switch main git pull git switch -c feature/name git push -u origin feature/name</a:t>
            </a:r>
            <a:endParaRPr lang="en-US" sz="1500" dirty="0"/>
          </a:p>
          <a:p>
            <a:pPr marL="342900" indent="-342900">
              <a:buSzPct val="100000"/>
              <a:buChar char="•"/>
            </a:pPr>
            <a:r>
              <a:rPr lang="en-US" sz="1500" dirty="0">
                <a:solidFill>
                  <a:srgbClr val="1A1A1A"/>
                </a:solidFill>
                <a:latin typeface="Arial" pitchFamily="34" charset="0"/>
                <a:ea typeface="Arial" pitchFamily="34" charset="-122"/>
                <a:cs typeface="Arial" pitchFamily="34" charset="-120"/>
              </a:rPr>
              <a:t>npm run dev npm run build # push branch → open PR # merge → check Actions # open and test live URL</a:t>
            </a:r>
            <a:endParaRPr lang="en-US" sz="1500" dirty="0"/>
          </a:p>
        </p:txBody>
      </p:sp>
      <p:sp>
        <p:nvSpPr>
          <p:cNvPr id="10" name="Shape 8"/>
          <p:cNvSpPr/>
          <p:nvPr/>
        </p:nvSpPr>
        <p:spPr>
          <a:xfrm>
            <a:off x="0" y="6446520"/>
            <a:ext cx="12191695" cy="411480"/>
          </a:xfrm>
          <a:prstGeom prst="rect">
            <a:avLst/>
          </a:prstGeom>
          <a:solidFill>
            <a:srgbClr val="000000"/>
          </a:solidFill>
          <a:ln w="12700">
            <a:solidFill>
              <a:srgbClr val="000000"/>
            </a:solidFill>
            <a:prstDash val="solid"/>
          </a:ln>
        </p:spPr>
      </p:sp>
      <p:sp>
        <p:nvSpPr>
          <p:cNvPr id="11" name="Text 9"/>
          <p:cNvSpPr/>
          <p:nvPr/>
        </p:nvSpPr>
        <p:spPr>
          <a:xfrm>
            <a:off x="502920" y="6528816"/>
            <a:ext cx="11155680" cy="256032"/>
          </a:xfrm>
          <a:prstGeom prst="rect">
            <a:avLst/>
          </a:prstGeom>
          <a:noFill/>
          <a:ln/>
        </p:spPr>
        <p:txBody>
          <a:bodyPr wrap="square" rtlCol="0" anchor="ctr"/>
          <a:lstStyle/>
          <a:p>
            <a:pPr indent="0" marL="0">
              <a:buNone/>
            </a:pPr>
            <a:r>
              <a:rPr lang="en-US" sz="1100" b="1" dirty="0">
                <a:solidFill>
                  <a:srgbClr val="FFDB00"/>
                </a:solidFill>
                <a:latin typeface="Arial" pitchFamily="34" charset="0"/>
                <a:ea typeface="Arial" pitchFamily="34" charset="-122"/>
                <a:cs typeface="Arial" pitchFamily="34" charset="-120"/>
              </a:rPr>
              <a:t>STATUS FIRST · DIFF ALWAYS · VERIFY THE LIVE URL · RESOURCES: PRESS 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1 — Git &amp; GitHub</dc:title>
  <dc:subject>Facilitator deck export from the workshop site</dc:subject>
  <dc:creator>MIS Club · Wichita State</dc:creator>
  <cp:lastModifiedBy>MIS Club · Wichita State</cp:lastModifiedBy>
  <cp:revision>1</cp:revision>
  <dcterms:created xsi:type="dcterms:W3CDTF">2026-10-20T16:40:03Z</dcterms:created>
  <dcterms:modified xsi:type="dcterms:W3CDTF">2026-10-20T16:40:03Z</dcterms:modified>
</cp:coreProperties>
</file>